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7D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7D6AD"/>
                </a:solidFill>
                <a:latin typeface="Aptos"/>
              </a:rPr>
              <a:t>SERVICEIQ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589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Aptos"/>
              </a:rPr>
              <a:t>AI-Powered
Enterprise Service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A6B1C7"/>
                </a:solidFill>
                <a:latin typeface="Aptos"/>
              </a:rPr>
              <a:t>Turn enterprise data into intelligent customer conversations.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34440"/>
            <a:ext cx="2743200" cy="2743200"/>
          </a:xfrm>
          <a:prstGeom prst="roundRect">
            <a:avLst/>
          </a:prstGeom>
          <a:solidFill>
            <a:srgbClr val="162037"/>
          </a:solidFill>
          <a:ln w="12700">
            <a:solidFill>
              <a:srgbClr val="47D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8288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5F7FA"/>
                </a:solidFill>
                <a:latin typeface="Aptos"/>
              </a:rPr>
              <a:t>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5146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7D6AD"/>
                </a:solidFill>
                <a:latin typeface="Aptos"/>
              </a:rPr>
              <a:t>Enterprise
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Your Data  •  Your AI  •  Your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7"/>
                </a:solidFill>
                <a:latin typeface="Aptos"/>
              </a:rPr>
              <a:t>SERVICEIQ  •  AI-POWERED ENTERPRISE SERVICE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7D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01 —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Customer service is still too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C7"/>
                </a:solidFill>
                <a:latin typeface="Aptos"/>
              </a:rPr>
              <a:t>Customers expect instant answers, while enterprise information remains fragmented.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5212080" cy="141732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978"/>
                </a:solidFill>
                <a:latin typeface="Aptos"/>
              </a:rPr>
              <a:t>SLOW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47548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Customers wait while agents search across systems and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57400"/>
            <a:ext cx="5212080" cy="141732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2585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D8BFF"/>
                </a:solidFill>
                <a:latin typeface="Aptos"/>
              </a:rPr>
              <a:t>FRAGMENTED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79192"/>
            <a:ext cx="47548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Product, inventory, policy and service information live in different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40480"/>
            <a:ext cx="5212080" cy="141732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66EFF"/>
                </a:solidFill>
                <a:latin typeface="Aptos"/>
              </a:rPr>
              <a:t>INCONSISTENT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62272"/>
            <a:ext cx="47548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Different agents can provide different answers to the same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212080" cy="141732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416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7D6AD"/>
                </a:solidFill>
                <a:latin typeface="Aptos"/>
              </a:rPr>
              <a:t>HIGH OPERATING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462272"/>
            <a:ext cx="47548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Repetitive questions consume valuable human service capacity.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D6AD"/>
                </a:solidFill>
                <a:latin typeface="Aptos"/>
              </a:rPr>
              <a:t>CORE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632704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How can enterprises deliver fast, accurate service without losing control of their data?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7"/>
                </a:solidFill>
                <a:latin typeface="Aptos"/>
              </a:rPr>
              <a:t>SERVICEIQ  •  AI-POWERED ENTERPRISE SERVICE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7D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02 —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Meet ServiceIQ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C7"/>
                </a:solidFill>
                <a:latin typeface="Aptos"/>
              </a:rPr>
              <a:t>An AI Agent layer that connects customer conversations to trusted enterprise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2514600" cy="18288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1C7"/>
                </a:solidFill>
                <a:latin typeface="Aptos"/>
              </a:rPr>
              <a:t>Asks a question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3154680"/>
            <a:ext cx="274320" cy="0"/>
          </a:xfrm>
          <a:prstGeom prst="line">
            <a:avLst/>
          </a:prstGeom>
          <a:ln w="2540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2240280"/>
            <a:ext cx="2514600" cy="18288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803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Bob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375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1C7"/>
                </a:solidFill>
                <a:latin typeface="Aptos"/>
              </a:rPr>
              <a:t>Understands intent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80" y="3154680"/>
            <a:ext cx="274320" cy="0"/>
          </a:xfrm>
          <a:prstGeom prst="line">
            <a:avLst/>
          </a:prstGeom>
          <a:ln w="2540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2240280"/>
            <a:ext cx="2514600" cy="18288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803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Enterprise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375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1C7"/>
                </a:solidFill>
                <a:latin typeface="Aptos"/>
              </a:rPr>
              <a:t>Retrieves relevant facts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3154680"/>
            <a:ext cx="274320" cy="0"/>
          </a:xfrm>
          <a:prstGeom prst="line">
            <a:avLst/>
          </a:prstGeom>
          <a:ln w="2540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2240280"/>
            <a:ext cx="2514600" cy="18288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8036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AI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375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1C7"/>
                </a:solidFill>
                <a:latin typeface="Aptos"/>
              </a:rPr>
              <a:t>Generates grounded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006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D6AD"/>
                </a:solidFill>
                <a:latin typeface="Aptos"/>
              </a:rPr>
              <a:t>Key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709160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AI does not guess — it answers using controlled enterprise data and tools.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7"/>
                </a:solidFill>
                <a:latin typeface="Aptos"/>
              </a:rPr>
              <a:t>SERVICEIQ  •  AI-POWERED ENTERPRISE SERVICE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7D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03 —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Bob — Your Enterprise AI Service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C7"/>
                </a:solidFill>
                <a:latin typeface="Aptos"/>
              </a:rPr>
              <a:t>Bob is the conversational interface between customers and the systems that run the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65960"/>
            <a:ext cx="2834640" cy="2194560"/>
          </a:xfrm>
          <a:prstGeom prst="roundRect">
            <a:avLst/>
          </a:prstGeom>
          <a:solidFill>
            <a:srgbClr val="162037"/>
          </a:solidFill>
          <a:ln w="12700">
            <a:solidFill>
              <a:srgbClr val="47D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37744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F5F7FA"/>
                </a:solidFill>
                <a:latin typeface="Aptos"/>
              </a:rPr>
              <a:t>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D6AD"/>
                </a:solidFill>
                <a:latin typeface="Aptos"/>
              </a:rPr>
              <a:t>AI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2743200" cy="132588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D8BFF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22860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Intent &amp;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65960"/>
            <a:ext cx="2743200" cy="132588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671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66EFF"/>
                </a:solidFill>
                <a:latin typeface="Aptos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87752"/>
            <a:ext cx="22860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Enterprise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343400"/>
            <a:ext cx="2743200" cy="132588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5445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978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965192"/>
            <a:ext cx="22860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Rules &amp; permissions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343400"/>
            <a:ext cx="2743200" cy="132588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5445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7D6AD"/>
                </a:solidFill>
                <a:latin typeface="Aptos"/>
              </a:rPr>
              <a:t>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965192"/>
            <a:ext cx="22860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Natural language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2651760"/>
            <a:ext cx="1280160" cy="182880"/>
          </a:xfrm>
          <a:prstGeom prst="line">
            <a:avLst/>
          </a:prstGeom>
          <a:ln w="1905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83280" y="3383280"/>
            <a:ext cx="1280160" cy="91440"/>
          </a:xfrm>
          <a:prstGeom prst="line">
            <a:avLst/>
          </a:prstGeom>
          <a:ln w="1905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98079" y="2651760"/>
            <a:ext cx="1234441" cy="182880"/>
          </a:xfrm>
          <a:prstGeom prst="line">
            <a:avLst/>
          </a:prstGeom>
          <a:ln w="1905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98079" y="3383280"/>
            <a:ext cx="1234441" cy="91440"/>
          </a:xfrm>
          <a:prstGeom prst="line">
            <a:avLst/>
          </a:prstGeom>
          <a:ln w="1905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8978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7D6AD"/>
                </a:solidFill>
                <a:latin typeface="Aptos"/>
              </a:rPr>
              <a:t>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8064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“Apakah produk X masih tersedia?”  →  Bob checks inventory → returns a grounded answer.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7"/>
                </a:solidFill>
                <a:latin typeface="Aptos"/>
              </a:rPr>
              <a:t>SERVICEIQ  •  AI-POWERED ENTERPRISE SERVICE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7D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04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Enterprise 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C7"/>
                </a:solidFill>
                <a:latin typeface="Aptos"/>
              </a:rPr>
              <a:t>A controlled agent workflow keeps business data connected, governed and useful.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685800"/>
            <a:ext cx="9966960" cy="82296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8412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D8BFF"/>
                </a:solidFill>
                <a:latin typeface="Aptos"/>
              </a:rP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84124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Conversation /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828800"/>
            <a:ext cx="9966960" cy="82296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842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7D6AD"/>
                </a:solidFill>
                <a:latin typeface="Aptos"/>
              </a:rPr>
              <a:t>BOB —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8424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Intent • Reasoning • Tool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971800"/>
            <a:ext cx="9966960" cy="82296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272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66EFF"/>
                </a:solidFill>
                <a:latin typeface="Aptos"/>
              </a:rPr>
              <a:t>AGENT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2724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Database • Knowledge Base •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114800"/>
            <a:ext cx="9966960" cy="82296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702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978"/>
                </a:solidFill>
                <a:latin typeface="Aptos"/>
              </a:rPr>
              <a:t>ENTERPRISE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7024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Products • Inventory • Policies • Customer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257800"/>
            <a:ext cx="9966960" cy="82296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4132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7D6AD"/>
                </a:solidFill>
                <a:latin typeface="Aptos"/>
              </a:rP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41324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Validated context → Natural language answer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1508760"/>
            <a:ext cx="0" cy="320040"/>
          </a:xfrm>
          <a:prstGeom prst="line">
            <a:avLst/>
          </a:prstGeom>
          <a:ln w="2540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2651760"/>
            <a:ext cx="0" cy="320040"/>
          </a:xfrm>
          <a:prstGeom prst="line">
            <a:avLst/>
          </a:prstGeom>
          <a:ln w="2540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3794760"/>
            <a:ext cx="0" cy="320040"/>
          </a:xfrm>
          <a:prstGeom prst="line">
            <a:avLst/>
          </a:prstGeom>
          <a:ln w="2540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4937760"/>
            <a:ext cx="0" cy="320040"/>
          </a:xfrm>
          <a:prstGeom prst="line">
            <a:avLst/>
          </a:prstGeom>
          <a:ln w="25400">
            <a:solidFill>
              <a:srgbClr val="47D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7"/>
                </a:solidFill>
                <a:latin typeface="Aptos"/>
              </a:rPr>
              <a:t>SERVICEIQ  •  AI-POWERED ENTERPRISE SERVICE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7D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6AD"/>
                </a:solidFill>
                <a:latin typeface="Aptos"/>
              </a:rPr>
              <a:t>05 —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From manual service to intelligent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C7"/>
                </a:solidFill>
                <a:latin typeface="Aptos"/>
              </a:rPr>
              <a:t>ServiceIQ turns enterprise information into faster, scalable and more consistent customer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011680" cy="16002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D6AD"/>
                </a:solidFill>
                <a:latin typeface="Aptos"/>
              </a:rPr>
              <a:t>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Instant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2148840"/>
            <a:ext cx="2011680" cy="16002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D8BFF"/>
                </a:solidFill>
                <a:latin typeface="Aptos"/>
              </a:rPr>
              <a:t>LOWER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97180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Automate repetitive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4" y="2148840"/>
            <a:ext cx="2011680" cy="16002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966EFF"/>
                </a:solidFill>
                <a:latin typeface="Aptos"/>
              </a:rPr>
              <a:t>SCALABLE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97180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Serve more 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2148840"/>
            <a:ext cx="2011680" cy="16002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6978"/>
                </a:solidFill>
                <a:latin typeface="Aptos"/>
              </a:rPr>
              <a:t>CONSISTENT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297180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One trusted 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2148840"/>
            <a:ext cx="2011680" cy="1600200"/>
          </a:xfrm>
          <a:prstGeom prst="roundRect">
            <a:avLst/>
          </a:prstGeom>
          <a:solidFill>
            <a:srgbClr val="11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2368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D6AD"/>
                </a:solidFill>
                <a:latin typeface="Aptos"/>
              </a:rPr>
              <a:t>CONTROLLED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297180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Enterprise data stays governed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10972800" cy="1234440"/>
          </a:xfrm>
          <a:prstGeom prst="roundRect">
            <a:avLst/>
          </a:prstGeom>
          <a:solidFill>
            <a:srgbClr val="162037"/>
          </a:solidFill>
          <a:ln w="12700">
            <a:solidFill>
              <a:srgbClr val="47D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D6AD"/>
                </a:solidFill>
                <a:latin typeface="Aptos"/>
              </a:rPr>
              <a:t>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25696"/>
            <a:ext cx="9235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Make every enterprise interaction intelligent, grounded and effortless.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97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7D6AD"/>
                </a:solidFill>
                <a:latin typeface="Aptos"/>
              </a:rPr>
              <a:t>SERVICEIQ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852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Your Data. Your AI. Your Service.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7"/>
                </a:solidFill>
                <a:latin typeface="Aptos"/>
              </a:rPr>
              <a:t>SERVICEIQ  •  AI-POWERED ENTERPRISE SERVICE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ServiceIQ — Pitching Deck</dc:title>
  <dc:subject>AI-Powered Enterprise Service Intelligence</dc:subject>
  <dc:creator>ServiceIQ</dc:creator>
  <cp:keywords>AI Agent, Enterprise AI, Customer Service, ServiceIQ, Bob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